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16"/>
  </p:notesMasterIdLst>
  <p:handoutMasterIdLst>
    <p:handoutMasterId r:id="rId17"/>
  </p:handoutMasterIdLst>
  <p:sldIdLst>
    <p:sldId id="276" r:id="rId5"/>
    <p:sldId id="1100" r:id="rId6"/>
    <p:sldId id="1183" r:id="rId7"/>
    <p:sldId id="1143" r:id="rId8"/>
    <p:sldId id="1187" r:id="rId9"/>
    <p:sldId id="1188" r:id="rId10"/>
    <p:sldId id="1155" r:id="rId11"/>
    <p:sldId id="1185" r:id="rId12"/>
    <p:sldId id="1189" r:id="rId13"/>
    <p:sldId id="1186" r:id="rId14"/>
    <p:sldId id="11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C721E3-3200-D79D-3E43-EC1EA30B3656}" name="Christine Joly" initials="CJ" userId="S::cjoly@spiria.com::6eb7f7d1-189a-4f46-a055-9e28f0940a9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-Olivier Poulin" initials="MOP [2]" lastIdx="5" clrIdx="0">
    <p:extLst>
      <p:ext uri="{19B8F6BF-5375-455C-9EA6-DF929625EA0E}">
        <p15:presenceInfo xmlns:p15="http://schemas.microsoft.com/office/powerpoint/2012/main" userId="S::mopoulin@spiria.com::dfcdb75a-f70f-4b69-bc1c-a9dd5c9b643d" providerId="AD"/>
      </p:ext>
    </p:extLst>
  </p:cmAuthor>
  <p:cmAuthor id="2" name="Jean Behara" initials="JB" lastIdx="1" clrIdx="1">
    <p:extLst>
      <p:ext uri="{19B8F6BF-5375-455C-9EA6-DF929625EA0E}">
        <p15:presenceInfo xmlns:p15="http://schemas.microsoft.com/office/powerpoint/2012/main" userId="S::jbehara@spiria.com::8649119d-fe85-4fd6-9850-eeecc599aa1f" providerId="AD"/>
      </p:ext>
    </p:extLst>
  </p:cmAuthor>
  <p:cmAuthor id="3" name="Gabriel Mongeon" initials="GM" lastIdx="2" clrIdx="2">
    <p:extLst>
      <p:ext uri="{19B8F6BF-5375-455C-9EA6-DF929625EA0E}">
        <p15:presenceInfo xmlns:p15="http://schemas.microsoft.com/office/powerpoint/2012/main" userId="S::gmongeon@spiria.com::ce18190e-67f9-472b-95cb-01c9e86f687d" providerId="AD"/>
      </p:ext>
    </p:extLst>
  </p:cmAuthor>
  <p:cmAuthor id="4" name="Christine Joly" initials="CJ" lastIdx="10" clrIdx="3">
    <p:extLst>
      <p:ext uri="{19B8F6BF-5375-455C-9EA6-DF929625EA0E}">
        <p15:presenceInfo xmlns:p15="http://schemas.microsoft.com/office/powerpoint/2012/main" userId="S::cjoly@spiria.com::6eb7f7d1-189a-4f46-a055-9e28f0940a93" providerId="AD"/>
      </p:ext>
    </p:extLst>
  </p:cmAuthor>
  <p:cmAuthor id="5" name="Julia Correa" initials="JC" lastIdx="1" clrIdx="4">
    <p:extLst>
      <p:ext uri="{19B8F6BF-5375-455C-9EA6-DF929625EA0E}">
        <p15:presenceInfo xmlns:p15="http://schemas.microsoft.com/office/powerpoint/2012/main" userId="S::jcorrea@spiria.com::4f83efe3-9de9-46e9-b6f1-ec2d564e6812" providerId="AD"/>
      </p:ext>
    </p:extLst>
  </p:cmAuthor>
  <p:cmAuthor id="6" name="Anthony Lainesse" initials="AL" lastIdx="2" clrIdx="5">
    <p:extLst>
      <p:ext uri="{19B8F6BF-5375-455C-9EA6-DF929625EA0E}">
        <p15:presenceInfo xmlns:p15="http://schemas.microsoft.com/office/powerpoint/2012/main" userId="S::alainesse@spiria.com::5c99dd26-3e6e-4566-bf63-b138bbdedea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941"/>
    <a:srgbClr val="3E4851"/>
    <a:srgbClr val="646977"/>
    <a:srgbClr val="F6F8FA"/>
    <a:srgbClr val="DCE3FF"/>
    <a:srgbClr val="C2CEFF"/>
    <a:srgbClr val="D3D9FC"/>
    <a:srgbClr val="5C7CFF"/>
    <a:srgbClr val="728592"/>
    <a:srgbClr val="FCB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4"/>
    <p:restoredTop sz="94658"/>
  </p:normalViewPr>
  <p:slideViewPr>
    <p:cSldViewPr snapToGrid="0">
      <p:cViewPr varScale="1">
        <p:scale>
          <a:sx n="78" d="100"/>
          <a:sy n="78" d="100"/>
        </p:scale>
        <p:origin x="619" y="62"/>
      </p:cViewPr>
      <p:guideLst>
        <p:guide orient="horz" pos="1253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6" d="100"/>
          <a:sy n="106" d="100"/>
        </p:scale>
        <p:origin x="540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7205C4-3A04-5DBA-126A-A992CD36E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91072-6AAD-8A69-299F-2BCDB599D2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1D526-0D41-4148-A77D-C22965D9717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CFAAA-FF1D-F8C1-B3FF-DAC59D869D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© 2023 Spiria Digital inc. All rights reserved.​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C9761-6523-3AEB-F626-0F271E9677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45FEB-042B-4E42-9D58-278AD5038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372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86C79-8BEF-3E45-BD5F-D6268FEF676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© 2023 Spiria Digital inc. All rights reserved.​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15252-514C-2542-827A-18C15A44E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7197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20CB-E1F9-4E9E-A573-9A00CB311FEF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3808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20CB-E1F9-4E9E-A573-9A00CB311FE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2808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B500-AEB2-AF7E-4364-B1F60FFF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8CD60-5201-5B2E-26C5-A32AED778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20F4D-8795-72EB-865C-C3B81346D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394B-32EE-1D06-08FE-D2B71CD2E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20CB-E1F9-4E9E-A573-9A00CB311FE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487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7C7E-03B1-46BF-6113-9A99721A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5E839-4310-E320-393D-23603B0C5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3AE57-D3F8-941D-F954-A107BE7CF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D212B-B541-C042-CE69-58C059E4E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20CB-E1F9-4E9E-A573-9A00CB311FE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365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5303-53E9-338E-37D3-3DFAF177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3C44E-8475-1DAA-AA27-E03D81BDD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92563-3FA3-A48A-1D51-478B393D9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1BA34-DE4C-560F-F057-71F454D9F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20CB-E1F9-4E9E-A573-9A00CB311FE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5227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E9E4-62D5-C869-A040-45464FCE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09642-A7E1-2762-EFEB-FCA52DBCA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8D743-5E67-1866-D81E-E29A5CA0C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0E46D-2411-F4C9-E9A7-18EE2B5C3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20CB-E1F9-4E9E-A573-9A00CB311FE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272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48D9-FEF9-42DD-666E-5E10608B6A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824" y="1621127"/>
            <a:ext cx="6480175" cy="1656463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CA" noProof="0" dirty="0"/>
              <a:t>Titre de couverture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A4B7D-51C3-FC2D-4952-98CA6C9FC1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87824" y="3281405"/>
            <a:ext cx="6480175" cy="530575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noProof="0" dirty="0"/>
              <a:t>Type de document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E9F1-5687-B72B-FC95-70D9ED9A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3" y="620263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CA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D6AC2C0-56AF-4218-FF94-F36CECC710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2912" y="439387"/>
            <a:ext cx="1334269" cy="2680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C3E1A5-654D-914E-39B8-01A7C93C6D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9936" y="4230624"/>
            <a:ext cx="512064" cy="199948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4014480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FFBC2-ABD8-B11B-C8CF-87E869FDB4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23792" y="615820"/>
            <a:ext cx="3780383" cy="5584955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 b="0" i="0">
                <a:solidFill>
                  <a:schemeClr val="tx1">
                    <a:tint val="82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CA" noProof="0" dirty="0"/>
              <a:t>Nom de section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noProof="0" dirty="0"/>
              <a:t>Nom de section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noProof="0" dirty="0"/>
              <a:t>Nom de section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noProof="0" dirty="0"/>
              <a:t>Nom de section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noProof="0" dirty="0"/>
              <a:t>Nom de section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noProof="0" dirty="0"/>
              <a:t>Nom de section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noProof="0" dirty="0"/>
              <a:t>Nom de section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23427E-9B66-BCFE-A472-397B9F8330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77419-5852-7239-E2A6-1799FBF339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9246" y="6433652"/>
            <a:ext cx="658621" cy="1292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57DB37-BE3F-DAF8-9564-3DD5986D38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9936" y="4230624"/>
            <a:ext cx="512064" cy="1999488"/>
          </a:xfrm>
          <a:prstGeom prst="rect">
            <a:avLst/>
          </a:prstGeom>
          <a:solidFill>
            <a:srgbClr val="303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FA7A31-351F-D66E-8F3D-837927B539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63812"/>
            <a:ext cx="2974055" cy="918792"/>
          </a:xfrm>
        </p:spPr>
        <p:txBody>
          <a:bodyPr/>
          <a:lstStyle/>
          <a:p>
            <a:r>
              <a:rPr lang="en-CA" noProof="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13562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51B2-F936-D0F0-6D52-D7304E8D6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CA" noProof="0" dirty="0"/>
              <a:t>Titre de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FFBC2-ABD8-B11B-C8CF-87E869FDB4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CA" noProof="0" dirty="0"/>
              <a:t>Cliquer pour modifier le sous-titre de section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23427E-9B66-BCFE-A472-397B9F8330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77419-5852-7239-E2A6-1799FBF339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9246" y="6433652"/>
            <a:ext cx="658621" cy="1292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57DB37-BE3F-DAF8-9564-3DD5986D38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9936" y="4230624"/>
            <a:ext cx="512064" cy="1999488"/>
          </a:xfrm>
          <a:prstGeom prst="rect">
            <a:avLst/>
          </a:prstGeom>
          <a:solidFill>
            <a:srgbClr val="3E4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2188647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3272" y="6309458"/>
            <a:ext cx="718686" cy="365125"/>
          </a:xfrm>
        </p:spPr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9F9FD-09CB-3B6A-5F22-B940DCA341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04C4CC-08DD-4730-2F92-72B015C8D0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CF7CFA7-58A5-618F-495F-8AA31B333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 noProof="0" dirty="0"/>
              <a:t>Cliquer pour modifier le titre</a:t>
            </a:r>
          </a:p>
        </p:txBody>
      </p:sp>
    </p:spTree>
    <p:extLst>
      <p:ext uri="{BB962C8B-B14F-4D97-AF65-F5344CB8AC3E}">
        <p14:creationId xmlns:p14="http://schemas.microsoft.com/office/powerpoint/2010/main" val="904628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Small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9"/>
            <a:ext cx="11306175" cy="918792"/>
          </a:xfrm>
        </p:spPr>
        <p:txBody>
          <a:bodyPr/>
          <a:lstStyle/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E79D4F-3F97-0591-9B55-E362968C75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7F824-4396-6DB3-0094-682D81DFD7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62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ll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F6D8-6A05-386D-FF7C-462E4F0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r>
              <a:rPr lang="en-CA" noProof="0"/>
              <a:t>Spiria - Development Practice Presentation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9488EE-9CED-F7FA-3493-A35295E32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 noProof="0" dirty="0"/>
              <a:t>Cliquer pour modifier le titre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E4CE55-EF20-7C08-E35E-F7A50CD54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33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46414"/>
            <a:ext cx="11306175" cy="918792"/>
          </a:xfrm>
        </p:spPr>
        <p:txBody>
          <a:bodyPr/>
          <a:lstStyle>
            <a:lvl1pPr>
              <a:defRPr lang="en-US"/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F6D8-6A05-386D-FF7C-462E4F0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r>
              <a:rPr lang="en-CA" noProof="0"/>
              <a:t>Spiria - Development Practice Presentation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DD9AA13-0076-B7C1-191F-A461FD45CC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00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en-US"/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F6D8-6A05-386D-FF7C-462E4F0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r>
              <a:rPr lang="en-CA" noProof="0"/>
              <a:t>Spiria - Development Practice Presentation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2660D31-3D51-4243-69E9-4BAED6F077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6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Ful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en-US"/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ACA4C-AC5F-EC6A-2D4F-5D84418755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692573-99C7-03DF-613E-13A138AF5E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00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ner Shap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912" y="2075007"/>
            <a:ext cx="3744913" cy="501045"/>
          </a:xfrm>
        </p:spPr>
        <p:txBody>
          <a:bodyPr/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F6D8-6A05-386D-FF7C-462E4F0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r>
              <a:rPr lang="en-CA" noProof="0"/>
              <a:t>Spiria - Development Practice Presentation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9488EE-9CED-F7FA-3493-A35295E32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9"/>
            <a:ext cx="3744913" cy="918792"/>
          </a:xfrm>
        </p:spPr>
        <p:txBody>
          <a:bodyPr/>
          <a:lstStyle/>
          <a:p>
            <a:r>
              <a:rPr lang="en-CA" noProof="0" dirty="0"/>
              <a:t>Cliquer pour modifier le titre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93766D-46C7-2EFE-FCCA-F2D1018BF7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80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F6D8-6A05-386D-FF7C-462E4F0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r>
              <a:rPr lang="en-CA" noProof="0"/>
              <a:t>Spiria - Development Practice Presentation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6ACDA1-8473-3773-99FB-583A3A111E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30 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F6D8-6A05-386D-FF7C-462E4F0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CA" noProof="0"/>
              <a:t>Spiria - Development Practice Presentation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9488EE-9CED-F7FA-3493-A35295E32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9"/>
            <a:ext cx="3744913" cy="9187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Cliquer pour modifier le titre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67268EC-71C3-0EC9-B0CB-C42C55BCA9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45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7"/>
            <a:ext cx="11306175" cy="918792"/>
          </a:xfrm>
        </p:spPr>
        <p:txBody>
          <a:bodyPr/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F12797-6F85-DF47-9D30-7F71DA7C4B86}" type="slidenum">
              <a:rPr lang="en-CA" noProof="0" smtClean="0"/>
              <a:pPr/>
              <a:t>‹#›</a:t>
            </a:fld>
            <a:endParaRPr lang="en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BFD36-D662-A5F9-95E0-8660DF89A0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428E71-FD13-50FB-9FB0-49BEBD02A5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50278" y="6433652"/>
            <a:ext cx="658621" cy="1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48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7"/>
            <a:ext cx="11306175" cy="918792"/>
          </a:xfrm>
        </p:spPr>
        <p:txBody>
          <a:bodyPr/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F12797-6F85-DF47-9D30-7F71DA7C4B86}" type="slidenum">
              <a:rPr lang="en-CA" noProof="0" smtClean="0"/>
              <a:pPr/>
              <a:t>‹#›</a:t>
            </a:fld>
            <a:endParaRPr lang="en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BFD36-D662-A5F9-95E0-8660DF89A0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49D8-2AD2-D7AC-2157-BBEDDA3EF8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50278" y="6433652"/>
            <a:ext cx="658621" cy="1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74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7"/>
            <a:ext cx="11306175" cy="918792"/>
          </a:xfrm>
        </p:spPr>
        <p:txBody>
          <a:bodyPr/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F12797-6F85-DF47-9D30-7F71DA7C4B86}" type="slidenum">
              <a:rPr lang="en-CA" noProof="0" smtClean="0"/>
              <a:pPr/>
              <a:t>‹#›</a:t>
            </a:fld>
            <a:endParaRPr lang="en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BFD36-D662-A5F9-95E0-8660DF89A0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E294D-D311-2C59-B00D-E949ABA880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50278" y="6433652"/>
            <a:ext cx="658621" cy="1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87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90E5-B776-955D-9449-3997E8DD5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7"/>
            <a:ext cx="11306175" cy="918792"/>
          </a:xfrm>
        </p:spPr>
        <p:txBody>
          <a:bodyPr/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C38A-F59C-54E6-8729-25C2DCA554C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8219-558B-5CFE-CA66-2270B571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F12797-6F85-DF47-9D30-7F71DA7C4B86}" type="slidenum">
              <a:rPr lang="en-CA" noProof="0" smtClean="0"/>
              <a:pPr/>
              <a:t>‹#›</a:t>
            </a:fld>
            <a:endParaRPr lang="en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BFD36-D662-A5F9-95E0-8660DF89A0D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08D16-09CD-900B-4150-B2FE8B115C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50278" y="6433652"/>
            <a:ext cx="658621" cy="1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44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3005-9D67-C98D-1B1E-B8B3C33A2F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954189"/>
            <a:ext cx="11306175" cy="918792"/>
          </a:xfrm>
        </p:spPr>
        <p:txBody>
          <a:bodyPr/>
          <a:lstStyle>
            <a:lvl1pPr>
              <a:defRPr lang="en-US"/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EC2DD-4A37-1C69-306F-E71B9043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55539-CBC0-0808-0EED-5745A36A91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31F830-BFF6-28D2-2097-1F53CABEB4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56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FBCEC-FAA8-83EB-5CEA-4C305609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12797-6F85-DF47-9D30-7F71DA7C4B86}" type="slidenum">
              <a:rPr lang="en-CA" noProof="0" smtClean="0"/>
              <a:t>‹#›</a:t>
            </a:fld>
            <a:endParaRPr lang="en-CA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4D13CF-8D46-78FC-2714-30517CF290B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00C258B-6E2A-D3E1-6481-BB54AF9B9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8046" y="6431784"/>
            <a:ext cx="648000" cy="12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51B2-F936-D0F0-6D52-D7304E8D6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4041057"/>
            <a:ext cx="6365363" cy="1131017"/>
          </a:xfrm>
        </p:spPr>
        <p:txBody>
          <a:bodyPr anchor="ctr">
            <a:normAutofit/>
          </a:bodyPr>
          <a:lstStyle>
            <a:lvl1pPr algn="l">
              <a:defRPr sz="72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CA" noProof="0" dirty="0"/>
              <a:t>Cliquer pour modifier le titre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23427E-9B66-BCFE-A472-397B9F8330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77419-5852-7239-E2A6-1799FBF339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9246" y="6433652"/>
            <a:ext cx="658621" cy="1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78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E220E-8A11-AE9C-5DD7-1FFDB65A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954189"/>
            <a:ext cx="11306175" cy="918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noProof="0" dirty="0"/>
              <a:t>Cliquer pour modifier le titre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6C194-0350-0C34-DE19-1D5DF9130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2075007"/>
            <a:ext cx="11306175" cy="4125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noProof="0" dirty="0"/>
              <a:t>Cliquer pour modifier le </a:t>
            </a:r>
            <a:r>
              <a:rPr lang="en-CA" noProof="0" dirty="0" err="1"/>
              <a:t>texte</a:t>
            </a:r>
            <a:endParaRPr lang="en-CA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89845-5289-EE91-B736-E4B8C974D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3950" y="6309458"/>
            <a:ext cx="7186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8F12797-6F85-DF47-9D30-7F71DA7C4B86}" type="slidenum">
              <a:rPr lang="en-CA" noProof="0" smtClean="0"/>
              <a:pPr/>
              <a:t>‹#›</a:t>
            </a:fld>
            <a:endParaRPr lang="en-CA" noProof="0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449AFA-2410-5D8C-099A-0CB1DD4B746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0067665" y="4173904"/>
            <a:ext cx="3744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CA" noProof="0" dirty="0">
                <a:solidFill>
                  <a:schemeClr val="tx1">
                    <a:alpha val="49733"/>
                  </a:schemeClr>
                </a:solidFill>
                <a:cs typeface="Arial" panose="020B0604020202020204" pitchFamily="34" charset="0"/>
              </a:rPr>
              <a:t>© 2025 SPIRIA DIGITAL INC.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441B3AC-13A8-76E2-F05A-AA8FA8C62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236904"/>
            <a:ext cx="3744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77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34" r:id="rId3"/>
    <p:sldLayoutId id="2147483718" r:id="rId4"/>
    <p:sldLayoutId id="2147483719" r:id="rId5"/>
    <p:sldLayoutId id="2147483727" r:id="rId6"/>
    <p:sldLayoutId id="2147483728" r:id="rId7"/>
    <p:sldLayoutId id="2147483729" r:id="rId8"/>
    <p:sldLayoutId id="2147483720" r:id="rId9"/>
    <p:sldLayoutId id="2147483739" r:id="rId10"/>
    <p:sldLayoutId id="2147483741" r:id="rId11"/>
    <p:sldLayoutId id="2147483738" r:id="rId12"/>
    <p:sldLayoutId id="2147483733" r:id="rId13"/>
    <p:sldLayoutId id="2147483735" r:id="rId14"/>
    <p:sldLayoutId id="2147483736" r:id="rId15"/>
    <p:sldLayoutId id="2147483737" r:id="rId16"/>
    <p:sldLayoutId id="2147483725" r:id="rId17"/>
    <p:sldLayoutId id="2147483726" r:id="rId18"/>
    <p:sldLayoutId id="2147483740" r:id="rId1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dirty="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6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A4A3A4"/>
          </p15:clr>
        </p15:guide>
        <p15:guide id="2" pos="2638">
          <p15:clr>
            <a:srgbClr val="A4A3A4"/>
          </p15:clr>
        </p15:guide>
        <p15:guide id="3" pos="5042">
          <p15:clr>
            <a:srgbClr val="A4A3A4"/>
          </p15:clr>
        </p15:guide>
        <p15:guide id="4" orient="horz" pos="867">
          <p15:clr>
            <a:srgbClr val="A4A3A4"/>
          </p15:clr>
        </p15:guide>
        <p15:guide id="5" orient="horz" pos="3906">
          <p15:clr>
            <a:srgbClr val="A4A3A4"/>
          </p15:clr>
        </p15:guide>
        <p15:guide id="6" pos="740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apacitorjs.com/" TargetMode="External"/><Relationship Id="rId13" Type="http://schemas.openxmlformats.org/officeDocument/2006/relationships/hyperlink" Target="https://sqlmodel.tiangolo.com/" TargetMode="External"/><Relationship Id="rId18" Type="http://schemas.openxmlformats.org/officeDocument/2006/relationships/hyperlink" Target="https://www.python.org/" TargetMode="External"/><Relationship Id="rId3" Type="http://schemas.openxmlformats.org/officeDocument/2006/relationships/hyperlink" Target="https://dart.dev/" TargetMode="External"/><Relationship Id="rId21" Type="http://schemas.openxmlformats.org/officeDocument/2006/relationships/hyperlink" Target="https://www.tiobe.com/tiobe-index/" TargetMode="External"/><Relationship Id="rId7" Type="http://schemas.openxmlformats.org/officeDocument/2006/relationships/hyperlink" Target="https://kotlinlang.org/multiplatform/" TargetMode="External"/><Relationship Id="rId12" Type="http://schemas.openxmlformats.org/officeDocument/2006/relationships/hyperlink" Target="https://fastapi.tiangolo.com/" TargetMode="External"/><Relationship Id="rId17" Type="http://schemas.openxmlformats.org/officeDocument/2006/relationships/hyperlink" Target="https://docs.astral.sh/ruff/" TargetMode="External"/><Relationship Id="rId2" Type="http://schemas.openxmlformats.org/officeDocument/2006/relationships/hyperlink" Target="https://flutter.dev/" TargetMode="External"/><Relationship Id="rId16" Type="http://schemas.openxmlformats.org/officeDocument/2006/relationships/hyperlink" Target="https://pyrefly.org/" TargetMode="External"/><Relationship Id="rId20" Type="http://schemas.openxmlformats.org/officeDocument/2006/relationships/hyperlink" Target="https://pypl.github.io/PYPL.html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kotlinlang.org/compose-multiplatform/" TargetMode="External"/><Relationship Id="rId11" Type="http://schemas.openxmlformats.org/officeDocument/2006/relationships/hyperlink" Target="https://rust-lang.org/" TargetMode="External"/><Relationship Id="rId5" Type="http://schemas.openxmlformats.org/officeDocument/2006/relationships/hyperlink" Target="https://dotnet.microsoft.com/en-us/apps/aspnet/web-apps/blazor" TargetMode="External"/><Relationship Id="rId15" Type="http://schemas.openxmlformats.org/officeDocument/2006/relationships/hyperlink" Target="https://ollama.com/" TargetMode="External"/><Relationship Id="rId10" Type="http://schemas.openxmlformats.org/officeDocument/2006/relationships/hyperlink" Target="https://tauri.app/" TargetMode="External"/><Relationship Id="rId19" Type="http://schemas.openxmlformats.org/officeDocument/2006/relationships/hyperlink" Target="https://github.com/willibix/chatbot-base" TargetMode="External"/><Relationship Id="rId4" Type="http://schemas.openxmlformats.org/officeDocument/2006/relationships/hyperlink" Target="https://dotnet.microsoft.com/en-us/apps/maui" TargetMode="External"/><Relationship Id="rId9" Type="http://schemas.openxmlformats.org/officeDocument/2006/relationships/hyperlink" Target="https://ionicframework.com/" TargetMode="External"/><Relationship Id="rId14" Type="http://schemas.openxmlformats.org/officeDocument/2006/relationships/hyperlink" Target="https://www.langchain.com/langch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897E-D301-9012-83AC-B766B1692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7824" y="1099364"/>
            <a:ext cx="7070111" cy="2169533"/>
          </a:xfrm>
        </p:spPr>
        <p:txBody>
          <a:bodyPr anchor="b">
            <a:noAutofit/>
          </a:bodyPr>
          <a:lstStyle/>
          <a:p>
            <a:r>
              <a:rPr lang="en-CA" b="1" dirty="0"/>
              <a:t>Libraries exploration through a basic multiplatform chatbot app</a:t>
            </a:r>
            <a:endParaRPr lang="en-CA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CE4746F-B076-5156-EBA6-761263E88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7825" y="3429000"/>
            <a:ext cx="6480175" cy="530575"/>
          </a:xfrm>
        </p:spPr>
        <p:txBody>
          <a:bodyPr/>
          <a:lstStyle/>
          <a:p>
            <a:r>
              <a:rPr lang="en-CA" dirty="0">
                <a:solidFill>
                  <a:schemeClr val="tx1">
                    <a:alpha val="50163"/>
                  </a:schemeClr>
                </a:solidFill>
              </a:rPr>
              <a:t>With the help of AI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19282-8C4F-2EC6-6588-9E57ACDB9BAE}"/>
              </a:ext>
            </a:extLst>
          </p:cNvPr>
          <p:cNvSpPr txBox="1"/>
          <p:nvPr/>
        </p:nvSpPr>
        <p:spPr>
          <a:xfrm>
            <a:off x="341313" y="1099364"/>
            <a:ext cx="1722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February 26th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A24A0-3CCD-9AE6-FF94-D64BCA587E1B}"/>
              </a:ext>
            </a:extLst>
          </p:cNvPr>
          <p:cNvSpPr txBox="1"/>
          <p:nvPr/>
        </p:nvSpPr>
        <p:spPr>
          <a:xfrm>
            <a:off x="4187825" y="5258532"/>
            <a:ext cx="2016899" cy="93871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srgbClr val="5C7C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PRESENTED BY</a:t>
            </a:r>
          </a:p>
          <a:p>
            <a:endParaRPr lang="en-CA" sz="1400" b="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CA" sz="1400" b="1" dirty="0">
                <a:latin typeface="Inter" panose="02000503000000020004" pitchFamily="2" charset="0"/>
                <a:ea typeface="Inter" panose="02000503000000020004" pitchFamily="2" charset="0"/>
              </a:rPr>
              <a:t>William Laferté</a:t>
            </a:r>
          </a:p>
          <a:p>
            <a:pPr>
              <a:spcBef>
                <a:spcPts val="600"/>
              </a:spcBef>
            </a:pPr>
            <a:r>
              <a:rPr lang="en-CA" sz="1200" dirty="0">
                <a:solidFill>
                  <a:schemeClr val="tx2"/>
                </a:solidFill>
                <a:ea typeface="+mn-lt"/>
                <a:cs typeface="+mn-lt"/>
              </a:rPr>
              <a:t>Senior Software Developer</a:t>
            </a:r>
          </a:p>
        </p:txBody>
      </p:sp>
    </p:spTree>
    <p:extLst>
      <p:ext uri="{BB962C8B-B14F-4D97-AF65-F5344CB8AC3E}">
        <p14:creationId xmlns:p14="http://schemas.microsoft.com/office/powerpoint/2010/main" val="213159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F6B549-AC7C-86B1-24D6-00624327E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7825" y="859066"/>
            <a:ext cx="7561263" cy="5139869"/>
          </a:xfrm>
        </p:spPr>
        <p:txBody>
          <a:bodyPr>
            <a:spAutoFit/>
          </a:bodyPr>
          <a:lstStyle/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dirty="0"/>
              <a:t>The goal</a:t>
            </a:r>
            <a:endParaRPr lang="en-CA" sz="2400" noProof="0" dirty="0"/>
          </a:p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noProof="0" dirty="0"/>
              <a:t>Multiplatform frontend framework</a:t>
            </a:r>
          </a:p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dirty="0"/>
              <a:t>Python REST API backend for a chatbot </a:t>
            </a:r>
          </a:p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noProof="0" dirty="0"/>
              <a:t>The AI tools I used to build the app</a:t>
            </a:r>
          </a:p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dirty="0"/>
              <a:t>App Demo</a:t>
            </a:r>
            <a:endParaRPr lang="en-CA" sz="2400" noProof="0" dirty="0"/>
          </a:p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dirty="0"/>
              <a:t>Conclusion</a:t>
            </a:r>
          </a:p>
          <a:p>
            <a:pPr marL="514350" indent="-514350" algn="l">
              <a:buClr>
                <a:schemeClr val="accent2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CA" sz="2400" dirty="0"/>
              <a:t>Question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2018-F35F-4170-7575-676E8F240B8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60006F-B61A-D11F-4F4D-5BF78DBF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noProof="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0938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65349-CE58-58D6-2CDB-538F5C44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F0FA-5321-8F15-D1F4-035B2CEA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954774"/>
            <a:ext cx="3744913" cy="918792"/>
          </a:xfrm>
        </p:spPr>
        <p:txBody>
          <a:bodyPr/>
          <a:lstStyle/>
          <a:p>
            <a:r>
              <a:rPr lang="en-CA" noProof="0" dirty="0"/>
              <a:t>The Goal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C6000-5CAF-04F1-952E-7570934A11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F4F1DD-870D-F743-5E48-FE0ACEA4FEC0}"/>
              </a:ext>
            </a:extLst>
          </p:cNvPr>
          <p:cNvSpPr txBox="1"/>
          <p:nvPr/>
        </p:nvSpPr>
        <p:spPr>
          <a:xfrm>
            <a:off x="4177993" y="2067088"/>
            <a:ext cx="6760528" cy="27238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CA" sz="2400" b="1" dirty="0">
                <a:latin typeface="Roboto" panose="02000000000000000000" pitchFamily="2" charset="0"/>
                <a:ea typeface="Roboto" panose="02000000000000000000" pitchFamily="2" charset="0"/>
              </a:rPr>
              <a:t>Create a multiplatform client/server chatbot app with AI tools.</a:t>
            </a:r>
          </a:p>
          <a:p>
            <a:endParaRPr lang="en-CA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The frontend should be a single code base client that support desktop, mobile and web.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The backend should be a REST API server that use python with no third-party services.</a:t>
            </a:r>
            <a:endParaRPr lang="en-CA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dirty="0">
                <a:latin typeface="Roboto" panose="02000000000000000000" pitchFamily="2" charset="0"/>
                <a:ea typeface="Roboto" panose="02000000000000000000" pitchFamily="2" charset="0"/>
              </a:rPr>
              <a:t>Must use AI tools to do most of the work.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31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535F05-9035-CA36-13FB-188A8030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noProof="0">
                <a:solidFill>
                  <a:schemeClr val="bg1">
                    <a:alpha val="50000"/>
                  </a:schemeClr>
                </a:solidFill>
              </a:rPr>
              <a:t>Spiria - Development Practice Presentation</a:t>
            </a:r>
            <a:endParaRPr lang="en-CA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B5F0525-5960-4362-8F95-2BC9E159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954189"/>
            <a:ext cx="3582988" cy="1588127"/>
          </a:xfrm>
        </p:spPr>
        <p:txBody>
          <a:bodyPr wrap="square">
            <a:spAutoFit/>
          </a:bodyPr>
          <a:lstStyle/>
          <a:p>
            <a:r>
              <a:rPr lang="en-CA" dirty="0"/>
              <a:t>Multiplatform frontend framework</a:t>
            </a:r>
            <a:endParaRPr lang="en-CA" noProof="0" dirty="0">
              <a:solidFill>
                <a:schemeClr val="bg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1C9D519-D842-5BAB-AC4D-7E6E478B131E}"/>
              </a:ext>
            </a:extLst>
          </p:cNvPr>
          <p:cNvSpPr txBox="1">
            <a:spLocks/>
          </p:cNvSpPr>
          <p:nvPr/>
        </p:nvSpPr>
        <p:spPr>
          <a:xfrm>
            <a:off x="4950177" y="505122"/>
            <a:ext cx="6594123" cy="5847755"/>
          </a:xfrm>
          <a:prstGeom prst="rect">
            <a:avLst/>
          </a:prstGeom>
        </p:spPr>
        <p:txBody>
          <a:bodyPr vert="horz" wrap="square" lIns="91440" tIns="45720" rIns="91440" bIns="45720" numCol="1" spcCol="252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Flutter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Use Dart, Developed by Google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Support mobile (iOS, Android), desktop (Windows, macOS, Linux) and web 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Use a widget approach for component that implement both Google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Material Design and Apple Liquid Glass style out of the box.</a:t>
            </a:r>
            <a:endParaRPr lang="en-CA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.NET MAUI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Use C# and XAML, Developed by Microsoft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Support mobile (iOS, Android), Desktop (Windows, macOS)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Can support web with Blazor Hybrid. It use C#, HTML, and CSS with Razor syntax for a share UI component that can be used by MAUI and Blazor.</a:t>
            </a:r>
          </a:p>
        </p:txBody>
      </p:sp>
    </p:spTree>
    <p:extLst>
      <p:ext uri="{BB962C8B-B14F-4D97-AF65-F5344CB8AC3E}">
        <p14:creationId xmlns:p14="http://schemas.microsoft.com/office/powerpoint/2010/main" val="375940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8FF5-A8DE-8757-A2C0-2A0D5D971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FB5B6-9710-749A-6B77-1FCD1CC1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noProof="0">
                <a:solidFill>
                  <a:schemeClr val="bg1">
                    <a:alpha val="50000"/>
                  </a:schemeClr>
                </a:solidFill>
              </a:rPr>
              <a:t>Spiria - Development Practice Presentation</a:t>
            </a:r>
            <a:endParaRPr lang="en-CA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18F87AD-D0A8-C6B7-2C5D-EE4670AA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954189"/>
            <a:ext cx="3582988" cy="1588127"/>
          </a:xfrm>
        </p:spPr>
        <p:txBody>
          <a:bodyPr wrap="square">
            <a:spAutoFit/>
          </a:bodyPr>
          <a:lstStyle/>
          <a:p>
            <a:r>
              <a:rPr lang="en-CA" dirty="0"/>
              <a:t>Multiplatform frontend framework</a:t>
            </a:r>
            <a:endParaRPr lang="en-CA" noProof="0" dirty="0">
              <a:solidFill>
                <a:schemeClr val="bg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A93E9D5-34D8-C2B2-9894-9DD5412339C6}"/>
              </a:ext>
            </a:extLst>
          </p:cNvPr>
          <p:cNvSpPr txBox="1">
            <a:spLocks/>
          </p:cNvSpPr>
          <p:nvPr/>
        </p:nvSpPr>
        <p:spPr>
          <a:xfrm>
            <a:off x="4950177" y="735956"/>
            <a:ext cx="6594123" cy="5386090"/>
          </a:xfrm>
          <a:prstGeom prst="rect">
            <a:avLst/>
          </a:prstGeom>
        </p:spPr>
        <p:txBody>
          <a:bodyPr vert="horz" wrap="square" lIns="91440" tIns="45720" rIns="91440" bIns="45720" numCol="1" spcCol="252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 startAt="3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Compose Multiplatform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Use Kotlin, Developed by </a:t>
            </a: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Jetbrains</a:t>
            </a:r>
            <a:endParaRPr lang="en-CA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Support mobile (iOS, Android), desktop (Windows, macOS, Linux) and web (still in beta)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Base on Android Jetpack and Kotlin Multiplatform.</a:t>
            </a:r>
          </a:p>
          <a:p>
            <a:pPr marL="457200" lvl="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 startAt="3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Capacitor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Use JS/TS, Developed by </a:t>
            </a: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OutSystems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Support mobile (iOS, Android) and web 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Can support Desktop with Electron. Can use any JS/TS web UI framework. Well Integrated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 with Ionic framework.</a:t>
            </a:r>
            <a:endParaRPr lang="en-CA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 startAt="3"/>
            </a:pPr>
            <a:endParaRPr lang="en-CA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866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41597-0953-83A2-C705-8771682B8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9C70F0-A09B-3D55-0EE7-0C8854B7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noProof="0">
                <a:solidFill>
                  <a:schemeClr val="bg1">
                    <a:alpha val="50000"/>
                  </a:schemeClr>
                </a:solidFill>
              </a:rPr>
              <a:t>Spiria - Development Practice Presentation</a:t>
            </a:r>
            <a:endParaRPr lang="en-CA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5003C09-5EE2-5BD3-08E6-C0DB12B6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954189"/>
            <a:ext cx="3582988" cy="1588127"/>
          </a:xfrm>
        </p:spPr>
        <p:txBody>
          <a:bodyPr wrap="square">
            <a:spAutoFit/>
          </a:bodyPr>
          <a:lstStyle/>
          <a:p>
            <a:r>
              <a:rPr lang="en-CA" dirty="0"/>
              <a:t>Multiplatform frontend framework</a:t>
            </a:r>
            <a:endParaRPr lang="en-CA" noProof="0" dirty="0">
              <a:solidFill>
                <a:schemeClr val="bg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21A5905-D864-7EF7-D083-E337CF4BB8C7}"/>
              </a:ext>
            </a:extLst>
          </p:cNvPr>
          <p:cNvSpPr txBox="1">
            <a:spLocks/>
          </p:cNvSpPr>
          <p:nvPr/>
        </p:nvSpPr>
        <p:spPr>
          <a:xfrm>
            <a:off x="4950177" y="1089899"/>
            <a:ext cx="6594123" cy="4678204"/>
          </a:xfrm>
          <a:prstGeom prst="rect">
            <a:avLst/>
          </a:prstGeom>
        </p:spPr>
        <p:txBody>
          <a:bodyPr vert="horz" wrap="square" lIns="91440" tIns="45720" rIns="91440" bIns="45720" numCol="1" spcCol="252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 startAt="5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Tauri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Use Rust and JS/TS, Developed by Tauri Contributors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Support mobile (iOS, Android) desktop (Windows, macOS, Linux) and web 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Can use any JS/TS web UI framework. It use a native </a:t>
            </a: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webview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 approach for all platform, that reduce the size of the app significantly.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The common API for native integration is in Rust. But can run any language with there sidecar feature.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 startAt="5"/>
            </a:pPr>
            <a:endParaRPr lang="en-CA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4459B-5E37-7119-7A75-2B91A48078E1}"/>
              </a:ext>
            </a:extLst>
          </p:cNvPr>
          <p:cNvSpPr txBox="1"/>
          <p:nvPr/>
        </p:nvSpPr>
        <p:spPr>
          <a:xfrm>
            <a:off x="2802193" y="5444935"/>
            <a:ext cx="9045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All framework presented here need a physical mac with Xcode to be able to use the frontend app in dev mode or compile a version of the frontend app for iOS and macOS.</a:t>
            </a:r>
            <a:endParaRPr lang="en-CA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60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47E17-CC3F-809A-4E88-6447B7A8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9D6C-95F2-6ACB-1468-B1A2C94D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954188"/>
            <a:ext cx="3744913" cy="1545771"/>
          </a:xfrm>
        </p:spPr>
        <p:txBody>
          <a:bodyPr wrap="square">
            <a:noAutofit/>
          </a:bodyPr>
          <a:lstStyle/>
          <a:p>
            <a:pPr>
              <a:buClr>
                <a:schemeClr val="accent2">
                  <a:lumMod val="60000"/>
                  <a:lumOff val="40000"/>
                </a:schemeClr>
              </a:buClr>
            </a:pPr>
            <a:r>
              <a:rPr lang="en-CA" dirty="0"/>
              <a:t>Python REST API backend for a chatbot</a:t>
            </a:r>
            <a:br>
              <a:rPr lang="en-CA" dirty="0"/>
            </a:br>
            <a:endParaRPr lang="en-CA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04677B6-A21A-4134-B91C-99591DEB6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2F393E">
                    <a:alpha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Spiria - Development Practice Presentation</a:t>
            </a:r>
            <a:endParaRPr kumimoji="0" lang="en-CA" sz="1000" b="0" i="0" u="none" strike="noStrike" kern="1200" cap="none" spc="0" normalizeH="0" baseline="0" noProof="0" dirty="0">
              <a:ln>
                <a:noFill/>
              </a:ln>
              <a:solidFill>
                <a:srgbClr val="2F393E">
                  <a:alpha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293E9AC-FDEE-47CA-78CE-F11FCA01A7FC}"/>
              </a:ext>
            </a:extLst>
          </p:cNvPr>
          <p:cNvSpPr/>
          <p:nvPr/>
        </p:nvSpPr>
        <p:spPr>
          <a:xfrm>
            <a:off x="4807131" y="1306616"/>
            <a:ext cx="6737170" cy="1545772"/>
          </a:xfrm>
          <a:prstGeom prst="roundRect">
            <a:avLst>
              <a:gd name="adj" fmla="val 8116"/>
            </a:avLst>
          </a:prstGeom>
          <a:solidFill>
            <a:srgbClr val="5C7CFF">
              <a:alpha val="957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DAEA1D7-43F8-9BAC-245D-339A074F877A}"/>
              </a:ext>
            </a:extLst>
          </p:cNvPr>
          <p:cNvSpPr txBox="1">
            <a:spLocks/>
          </p:cNvSpPr>
          <p:nvPr/>
        </p:nvSpPr>
        <p:spPr>
          <a:xfrm>
            <a:off x="5094513" y="1534994"/>
            <a:ext cx="6444047" cy="1089016"/>
          </a:xfrm>
          <a:prstGeom prst="rect">
            <a:avLst/>
          </a:prstGeom>
        </p:spPr>
        <p:txBody>
          <a:bodyPr vert="horz" wrap="square" lIns="91440" tIns="45720" rIns="91440" bIns="45720" numCol="1" spcCol="252000" rtlCol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CA" sz="2000" noProof="0" dirty="0" err="1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FastAPI</a:t>
            </a:r>
            <a:r>
              <a:rPr lang="en-CA" sz="2000" noProof="0" dirty="0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with </a:t>
            </a:r>
            <a:r>
              <a:rPr lang="en-CA" sz="2000" noProof="0" dirty="0" err="1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SQLModel</a:t>
            </a:r>
            <a:endParaRPr lang="en-CA" sz="2000" noProof="0" dirty="0">
              <a:solidFill>
                <a:srgbClr val="5C7C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0">
              <a:lnSpc>
                <a:spcPct val="130000"/>
              </a:lnSpc>
              <a:spcBef>
                <a:spcPts val="0"/>
              </a:spcBef>
            </a:pPr>
            <a: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  <a:t>Fast and easy to use framework to build API in python.</a:t>
            </a:r>
          </a:p>
          <a:p>
            <a:pPr lvl="0">
              <a:lnSpc>
                <a:spcPct val="130000"/>
              </a:lnSpc>
              <a:spcBef>
                <a:spcPts val="0"/>
              </a:spcBef>
            </a:pPr>
            <a:r>
              <a:rPr lang="en-CA" sz="1400" dirty="0">
                <a:latin typeface="Roboto" panose="02000000000000000000" pitchFamily="2" charset="0"/>
                <a:ea typeface="Roboto" panose="02000000000000000000" pitchFamily="2" charset="0"/>
              </a:rPr>
              <a:t>Simple ORM library build on </a:t>
            </a:r>
            <a:r>
              <a:rPr lang="en-CA" sz="1400" dirty="0" err="1">
                <a:latin typeface="Roboto" panose="02000000000000000000" pitchFamily="2" charset="0"/>
                <a:ea typeface="Roboto" panose="02000000000000000000" pitchFamily="2" charset="0"/>
              </a:rPr>
              <a:t>SQLAlchemy</a:t>
            </a:r>
            <a:r>
              <a:rPr lang="en-CA" sz="1400" dirty="0">
                <a:latin typeface="Roboto" panose="02000000000000000000" pitchFamily="2" charset="0"/>
                <a:ea typeface="Roboto" panose="02000000000000000000" pitchFamily="2" charset="0"/>
              </a:rPr>
              <a:t> and </a:t>
            </a:r>
            <a:r>
              <a:rPr lang="en-CA" sz="1400" dirty="0" err="1">
                <a:latin typeface="Roboto" panose="02000000000000000000" pitchFamily="2" charset="0"/>
                <a:ea typeface="Roboto" panose="02000000000000000000" pitchFamily="2" charset="0"/>
              </a:rPr>
              <a:t>Pydantic</a:t>
            </a:r>
            <a:r>
              <a:rPr lang="en-CA" sz="1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CA" sz="14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513B23-30DC-437B-0641-49403A84B5BB}"/>
              </a:ext>
            </a:extLst>
          </p:cNvPr>
          <p:cNvSpPr/>
          <p:nvPr/>
        </p:nvSpPr>
        <p:spPr>
          <a:xfrm>
            <a:off x="4807131" y="2978499"/>
            <a:ext cx="6737170" cy="1545772"/>
          </a:xfrm>
          <a:prstGeom prst="roundRect">
            <a:avLst>
              <a:gd name="adj" fmla="val 7459"/>
            </a:avLst>
          </a:prstGeom>
          <a:solidFill>
            <a:srgbClr val="5C7CFF">
              <a:alpha val="957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584D88B-06EC-5CD6-0B42-F95B043FD641}"/>
              </a:ext>
            </a:extLst>
          </p:cNvPr>
          <p:cNvSpPr txBox="1">
            <a:spLocks/>
          </p:cNvSpPr>
          <p:nvPr/>
        </p:nvSpPr>
        <p:spPr>
          <a:xfrm>
            <a:off x="5094511" y="3206877"/>
            <a:ext cx="6444047" cy="1089016"/>
          </a:xfrm>
          <a:prstGeom prst="rect">
            <a:avLst/>
          </a:prstGeom>
        </p:spPr>
        <p:txBody>
          <a:bodyPr vert="horz" wrap="square" lIns="91440" tIns="45720" rIns="91440" bIns="45720" numCol="1" spcCol="252000" rtlCol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CA" sz="2000" dirty="0" err="1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LangChain</a:t>
            </a:r>
            <a:r>
              <a:rPr lang="en-CA" sz="2000" dirty="0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CA" sz="2000" noProof="0" dirty="0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and Ollama</a:t>
            </a:r>
          </a:p>
          <a:p>
            <a:pPr lvl="0">
              <a:lnSpc>
                <a:spcPct val="130000"/>
              </a:lnSpc>
              <a:spcBef>
                <a:spcPts val="0"/>
              </a:spcBef>
            </a:pPr>
            <a: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  <a:t>Orchestration library that act as a middleware to help you interreact with LLM.</a:t>
            </a:r>
            <a:endParaRPr lang="en-CA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0">
              <a:lnSpc>
                <a:spcPct val="130000"/>
              </a:lnSpc>
              <a:spcBef>
                <a:spcPts val="0"/>
              </a:spcBef>
            </a:pPr>
            <a: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  <a:t>Library that help you run and manage open source LLM.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D7F278-48BD-E5CB-8701-C799B79F196E}"/>
              </a:ext>
            </a:extLst>
          </p:cNvPr>
          <p:cNvSpPr/>
          <p:nvPr/>
        </p:nvSpPr>
        <p:spPr>
          <a:xfrm>
            <a:off x="4807131" y="4655003"/>
            <a:ext cx="6737170" cy="1545772"/>
          </a:xfrm>
          <a:prstGeom prst="roundRect">
            <a:avLst>
              <a:gd name="adj" fmla="val 9430"/>
            </a:avLst>
          </a:prstGeom>
          <a:solidFill>
            <a:srgbClr val="5C7CFF">
              <a:alpha val="957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4633BFF-2C3F-69CA-7EA8-B28661E48EEA}"/>
              </a:ext>
            </a:extLst>
          </p:cNvPr>
          <p:cNvSpPr txBox="1">
            <a:spLocks/>
          </p:cNvSpPr>
          <p:nvPr/>
        </p:nvSpPr>
        <p:spPr>
          <a:xfrm>
            <a:off x="5094511" y="4743342"/>
            <a:ext cx="6444047" cy="1369093"/>
          </a:xfrm>
          <a:prstGeom prst="rect">
            <a:avLst/>
          </a:prstGeom>
        </p:spPr>
        <p:txBody>
          <a:bodyPr vert="horz" wrap="square" lIns="91440" tIns="45720" rIns="91440" bIns="45720" numCol="1" spcCol="252000" rtlCol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CA" sz="2000" noProof="0" dirty="0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Ruff and </a:t>
            </a:r>
            <a:r>
              <a:rPr lang="en-CA" sz="2000" noProof="0" dirty="0" err="1">
                <a:solidFill>
                  <a:srgbClr val="5C7C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Pyrefly</a:t>
            </a:r>
            <a:endParaRPr lang="en-CA" sz="2000" noProof="0" dirty="0">
              <a:solidFill>
                <a:srgbClr val="5C7C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0">
              <a:lnSpc>
                <a:spcPct val="130000"/>
              </a:lnSpc>
              <a:spcBef>
                <a:spcPts val="0"/>
              </a:spcBef>
            </a:pPr>
            <a: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  <a:t>Ruff is a super performant linter and formatter for Python.</a:t>
            </a:r>
          </a:p>
          <a:p>
            <a:pPr lvl="0">
              <a:lnSpc>
                <a:spcPct val="130000"/>
              </a:lnSpc>
              <a:spcBef>
                <a:spcPts val="0"/>
              </a:spcBef>
            </a:pPr>
            <a:r>
              <a:rPr lang="en-CA" sz="1400" noProof="0" dirty="0" err="1">
                <a:latin typeface="Roboto" panose="02000000000000000000" pitchFamily="2" charset="0"/>
                <a:ea typeface="Roboto" panose="02000000000000000000" pitchFamily="2" charset="0"/>
              </a:rPr>
              <a:t>Pyrefly</a:t>
            </a:r>
            <a: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  <a:t> is a super performant type checker and language server for Python</a:t>
            </a:r>
            <a:b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CA" sz="1400" noProof="0" dirty="0">
                <a:latin typeface="Roboto" panose="02000000000000000000" pitchFamily="2" charset="0"/>
                <a:ea typeface="Roboto" panose="02000000000000000000" pitchFamily="2" charset="0"/>
              </a:rPr>
              <a:t>Both tools are made in Rust for beater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5242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B63C5-0226-BA56-95C2-3F811910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9273FE-A336-A99D-3EF9-2B6CD31A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noProof="0">
                <a:solidFill>
                  <a:schemeClr val="bg1">
                    <a:alpha val="50000"/>
                  </a:schemeClr>
                </a:solidFill>
              </a:rPr>
              <a:t>Spiria - Development Practice Presentation</a:t>
            </a:r>
            <a:endParaRPr lang="en-CA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24868D-8CF5-A295-D1D1-DFB9EA32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954189"/>
            <a:ext cx="2998378" cy="2086725"/>
          </a:xfrm>
        </p:spPr>
        <p:txBody>
          <a:bodyPr wrap="square">
            <a:spAutoFit/>
          </a:bodyPr>
          <a:lstStyle/>
          <a:p>
            <a:r>
              <a:rPr lang="en-CA" dirty="0"/>
              <a:t>The AI tools I used to build the app</a:t>
            </a:r>
            <a:br>
              <a:rPr lang="en-CA" dirty="0"/>
            </a:br>
            <a:endParaRPr lang="en-CA" noProof="0" dirty="0">
              <a:solidFill>
                <a:schemeClr val="bg1"/>
              </a:solidFill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98CC0E9-27FD-245F-31F9-550EC3F5D4D7}"/>
              </a:ext>
            </a:extLst>
          </p:cNvPr>
          <p:cNvSpPr txBox="1">
            <a:spLocks/>
          </p:cNvSpPr>
          <p:nvPr/>
        </p:nvSpPr>
        <p:spPr>
          <a:xfrm>
            <a:off x="4707115" y="83016"/>
            <a:ext cx="6594123" cy="6832640"/>
          </a:xfrm>
          <a:prstGeom prst="rect">
            <a:avLst/>
          </a:prstGeom>
        </p:spPr>
        <p:txBody>
          <a:bodyPr vert="horz" wrap="square" lIns="91440" tIns="45720" rIns="91440" bIns="45720" numCol="1" spcCol="252000" rtlCol="0" anchor="ctr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CA" sz="2000" noProof="0" dirty="0">
                <a:latin typeface="Roboto" panose="02000000000000000000" pitchFamily="2" charset="0"/>
                <a:ea typeface="Roboto" panose="02000000000000000000" pitchFamily="2" charset="0"/>
              </a:rPr>
              <a:t>For this project I used VS Code over 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P</a:t>
            </a:r>
            <a:r>
              <a:rPr lang="en-CA" sz="2000" noProof="0" dirty="0" err="1">
                <a:latin typeface="Roboto" panose="02000000000000000000" pitchFamily="2" charset="0"/>
                <a:ea typeface="Roboto" panose="02000000000000000000" pitchFamily="2" charset="0"/>
              </a:rPr>
              <a:t>yCharm</a:t>
            </a:r>
            <a:r>
              <a:rPr lang="en-CA" sz="2000" noProof="0" dirty="0">
                <a:latin typeface="Roboto" panose="02000000000000000000" pitchFamily="2" charset="0"/>
                <a:ea typeface="Roboto" panose="02000000000000000000" pitchFamily="2" charset="0"/>
              </a:rPr>
              <a:t> for beater integration with GitHub Copilot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Did all the code in the app with the help of GitHub Copilot. From initial project setup to debugging and improvement.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I used Claude Opus 4.5 model (4.6 for opus and sonnet are now available) in the 3 mode (agent, ask and plan).</a:t>
            </a:r>
          </a:p>
          <a:p>
            <a:pPr marL="457200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Nice VS Code extension I picked up for this project: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MCP server Context7 (help give more up to date context to GitHub Copilot)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SQLTools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 (database integration directly in IDE)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Tauri (improve developer experience with Tauri)</a:t>
            </a:r>
          </a:p>
          <a:p>
            <a:pPr marL="9144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Pyrefly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 (faster language server then </a:t>
            </a: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pylance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, also work beater with </a:t>
            </a: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Pydandic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 and</a:t>
            </a:r>
            <a:b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CA" sz="2000" dirty="0" err="1">
                <a:latin typeface="Roboto" panose="02000000000000000000" pitchFamily="2" charset="0"/>
                <a:ea typeface="Roboto" panose="02000000000000000000" pitchFamily="2" charset="0"/>
              </a:rPr>
              <a:t>SQLModel</a:t>
            </a:r>
            <a:r>
              <a:rPr lang="en-CA" sz="2000" dirty="0">
                <a:latin typeface="Roboto" panose="02000000000000000000" pitchFamily="2" charset="0"/>
                <a:ea typeface="Roboto" panose="02000000000000000000" pitchFamily="2" charset="0"/>
              </a:rPr>
              <a:t> typing)</a:t>
            </a:r>
          </a:p>
        </p:txBody>
      </p:sp>
    </p:spTree>
    <p:extLst>
      <p:ext uri="{BB962C8B-B14F-4D97-AF65-F5344CB8AC3E}">
        <p14:creationId xmlns:p14="http://schemas.microsoft.com/office/powerpoint/2010/main" val="378305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FEBE-4690-C203-96A9-CD6A6B3B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BA92-AB0C-ACCC-5961-A4E22387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Demo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5A8D3-2298-EA00-6930-1BD07F6480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0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7A21-DF4F-3E50-0F0F-7EC66043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35731-3490-D1A5-0CC7-1158B8E64BB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CA" noProof="0">
                <a:cs typeface="Arial" panose="020B0604020202020204" pitchFamily="34" charset="0"/>
              </a:rPr>
              <a:t>Spiria - Development Practice Presentation</a:t>
            </a:r>
            <a:endParaRPr lang="en-CA" noProof="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8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2D69-3DDD-70D6-30C7-04BCBE73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835" y="419466"/>
            <a:ext cx="6365363" cy="113101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DFFBC-F295-9DED-15D4-AB09528964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Arial" panose="020B0604020202020204" pitchFamily="34" charset="0"/>
              </a:rPr>
              <a:t>Spiria - Development Practice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78FB6-C0D9-70D9-0470-4461957D8485}"/>
              </a:ext>
            </a:extLst>
          </p:cNvPr>
          <p:cNvSpPr txBox="1"/>
          <p:nvPr/>
        </p:nvSpPr>
        <p:spPr>
          <a:xfrm>
            <a:off x="442913" y="1784707"/>
            <a:ext cx="581040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https://flutter.dev/</a:t>
            </a:r>
            <a:r>
              <a:rPr lang="en-CA" dirty="0"/>
              <a:t>	 </a:t>
            </a:r>
            <a:r>
              <a:rPr lang="en-CA" dirty="0">
                <a:hlinkClick r:id="rId3"/>
              </a:rPr>
              <a:t>https://dart.dev/</a:t>
            </a:r>
            <a:br>
              <a:rPr lang="en-CA" dirty="0"/>
            </a:br>
            <a:endParaRPr lang="en-CA" dirty="0"/>
          </a:p>
          <a:p>
            <a:r>
              <a:rPr lang="en-CA" dirty="0">
                <a:hlinkClick r:id="rId4"/>
              </a:rPr>
              <a:t>https://dotnet.microsoft.com/en-us/apps/maui</a:t>
            </a:r>
            <a:br>
              <a:rPr lang="en-CA" dirty="0"/>
            </a:br>
            <a:r>
              <a:rPr lang="en-CA" dirty="0">
                <a:hlinkClick r:id="rId5"/>
              </a:rPr>
              <a:t>https://dotnet.microsoft.com/en-us/apps/aspnet/web-apps/blazor</a:t>
            </a:r>
            <a:endParaRPr lang="en-CA" dirty="0"/>
          </a:p>
          <a:p>
            <a:endParaRPr lang="en-CA" dirty="0"/>
          </a:p>
          <a:p>
            <a:r>
              <a:rPr lang="en-CA" dirty="0">
                <a:hlinkClick r:id="rId6"/>
              </a:rPr>
              <a:t>https://kotlinlang.org/compose-multiplatform/</a:t>
            </a:r>
            <a:endParaRPr lang="en-CA" dirty="0"/>
          </a:p>
          <a:p>
            <a:r>
              <a:rPr lang="en-CA" dirty="0">
                <a:hlinkClick r:id="rId7"/>
              </a:rPr>
              <a:t>https://kotlinlang.org/multiplatform/</a:t>
            </a:r>
            <a:endParaRPr lang="en-CA" dirty="0"/>
          </a:p>
          <a:p>
            <a:br>
              <a:rPr lang="en-CA" dirty="0"/>
            </a:br>
            <a:r>
              <a:rPr lang="en-CA" dirty="0">
                <a:hlinkClick r:id="rId8"/>
              </a:rPr>
              <a:t>https://capacitorjs.com/</a:t>
            </a:r>
            <a:endParaRPr lang="en-CA" dirty="0"/>
          </a:p>
          <a:p>
            <a:r>
              <a:rPr lang="en-CA" dirty="0">
                <a:hlinkClick r:id="rId9"/>
              </a:rPr>
              <a:t>https://ionicframework.com/</a:t>
            </a:r>
            <a:endParaRPr lang="en-CA" dirty="0"/>
          </a:p>
          <a:p>
            <a:endParaRPr lang="en-CA" dirty="0"/>
          </a:p>
          <a:p>
            <a:r>
              <a:rPr lang="en-CA" dirty="0">
                <a:hlinkClick r:id="rId10"/>
              </a:rPr>
              <a:t>https://tauri.app</a:t>
            </a:r>
            <a:r>
              <a:rPr lang="en-CA" dirty="0"/>
              <a:t>	</a:t>
            </a:r>
            <a:r>
              <a:rPr lang="en-CA" dirty="0">
                <a:hlinkClick r:id="rId11"/>
              </a:rPr>
              <a:t>https://rust-lang.org/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B3EF2-9C81-392E-592A-5321A52FC101}"/>
              </a:ext>
            </a:extLst>
          </p:cNvPr>
          <p:cNvSpPr txBox="1"/>
          <p:nvPr/>
        </p:nvSpPr>
        <p:spPr>
          <a:xfrm>
            <a:off x="7246835" y="3749353"/>
            <a:ext cx="4423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12"/>
              </a:rPr>
              <a:t>https://fastapi.tiangolo.com/</a:t>
            </a:r>
            <a:endParaRPr lang="en-CA" dirty="0"/>
          </a:p>
          <a:p>
            <a:r>
              <a:rPr lang="en-CA" dirty="0">
                <a:hlinkClick r:id="rId13"/>
              </a:rPr>
              <a:t>https://sqlmodel.tiangolo.com/</a:t>
            </a:r>
            <a:endParaRPr lang="en-CA" dirty="0"/>
          </a:p>
          <a:p>
            <a:br>
              <a:rPr lang="en-CA" dirty="0">
                <a:hlinkClick r:id="rId12"/>
              </a:rPr>
            </a:br>
            <a:r>
              <a:rPr lang="en-CA" dirty="0">
                <a:hlinkClick r:id="rId14"/>
              </a:rPr>
              <a:t>https://www.langchain.com/langchain</a:t>
            </a:r>
            <a:endParaRPr lang="en-CA" dirty="0"/>
          </a:p>
          <a:p>
            <a:r>
              <a:rPr lang="en-CA" dirty="0">
                <a:hlinkClick r:id="rId15"/>
              </a:rPr>
              <a:t>https://ollama.com/</a:t>
            </a:r>
            <a:br>
              <a:rPr lang="en-CA" dirty="0"/>
            </a:br>
            <a:br>
              <a:rPr lang="en-CA" dirty="0"/>
            </a:br>
            <a:r>
              <a:rPr lang="en-CA" dirty="0">
                <a:hlinkClick r:id="rId16"/>
              </a:rPr>
              <a:t>https://pyrefly.org/</a:t>
            </a:r>
            <a:endParaRPr lang="en-CA" dirty="0"/>
          </a:p>
          <a:p>
            <a:r>
              <a:rPr lang="en-CA" dirty="0">
                <a:hlinkClick r:id="rId17"/>
              </a:rPr>
              <a:t>https://docs.astral.sh/ruff/</a:t>
            </a:r>
            <a:endParaRPr lang="en-CA" dirty="0"/>
          </a:p>
          <a:p>
            <a:br>
              <a:rPr lang="en-CA" dirty="0">
                <a:hlinkClick r:id="rId12"/>
              </a:rPr>
            </a:br>
            <a:r>
              <a:rPr lang="en-CA" dirty="0">
                <a:hlinkClick r:id="rId18"/>
              </a:rPr>
              <a:t>https://www.python.org/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32DBD-D1AE-4F88-8E87-63513B5BAEC6}"/>
              </a:ext>
            </a:extLst>
          </p:cNvPr>
          <p:cNvSpPr txBox="1"/>
          <p:nvPr/>
        </p:nvSpPr>
        <p:spPr>
          <a:xfrm>
            <a:off x="7246835" y="1784707"/>
            <a:ext cx="44235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19"/>
              </a:rPr>
              <a:t>https://github.com/willibix/chatbot-base</a:t>
            </a:r>
            <a:br>
              <a:rPr lang="en-CA" dirty="0"/>
            </a:br>
            <a:br>
              <a:rPr lang="en-CA" dirty="0"/>
            </a:br>
            <a:r>
              <a:rPr lang="en-CA" dirty="0">
                <a:hlinkClick r:id="rId20"/>
              </a:rPr>
              <a:t>https://pypl.github.io/PYPL.html</a:t>
            </a:r>
            <a:endParaRPr lang="en-CA" dirty="0"/>
          </a:p>
          <a:p>
            <a:r>
              <a:rPr lang="en-CA" dirty="0">
                <a:hlinkClick r:id="rId21"/>
              </a:rPr>
              <a:t>https://www.tiobe.com/tiobe-index/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1932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iria 2024">
      <a:dk1>
        <a:srgbClr val="2F3940"/>
      </a:dk1>
      <a:lt1>
        <a:srgbClr val="FFFFFF"/>
      </a:lt1>
      <a:dk2>
        <a:srgbClr val="4C5662"/>
      </a:dk2>
      <a:lt2>
        <a:srgbClr val="EFF0F4"/>
      </a:lt2>
      <a:accent1>
        <a:srgbClr val="DF2F3B"/>
      </a:accent1>
      <a:accent2>
        <a:srgbClr val="5C7CFF"/>
      </a:accent2>
      <a:accent3>
        <a:srgbClr val="FFC050"/>
      </a:accent3>
      <a:accent4>
        <a:srgbClr val="0F9ED5"/>
      </a:accent4>
      <a:accent5>
        <a:srgbClr val="A02B93"/>
      </a:accent5>
      <a:accent6>
        <a:srgbClr val="4EA72E"/>
      </a:accent6>
      <a:hlink>
        <a:srgbClr val="DF2F3A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66e6e4-ee28-4ac2-a173-263d50dbf66d">
      <Terms xmlns="http://schemas.microsoft.com/office/infopath/2007/PartnerControls"/>
    </lcf76f155ced4ddcb4097134ff3c332f>
    <TaxCatchAll xmlns="b8267d95-1d67-4068-84fc-ad817dd2c5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EB2AADE47364B857A9EAB24E0C71C" ma:contentTypeVersion="15" ma:contentTypeDescription="Create a new document." ma:contentTypeScope="" ma:versionID="42e4c0f51efb16ad75513402f2cd9d4a">
  <xsd:schema xmlns:xsd="http://www.w3.org/2001/XMLSchema" xmlns:xs="http://www.w3.org/2001/XMLSchema" xmlns:p="http://schemas.microsoft.com/office/2006/metadata/properties" xmlns:ns2="9466e6e4-ee28-4ac2-a173-263d50dbf66d" xmlns:ns3="b8267d95-1d67-4068-84fc-ad817dd2c5b5" targetNamespace="http://schemas.microsoft.com/office/2006/metadata/properties" ma:root="true" ma:fieldsID="0ace394c9319da649e329118958ab11f" ns2:_="" ns3:_="">
    <xsd:import namespace="9466e6e4-ee28-4ac2-a173-263d50dbf66d"/>
    <xsd:import namespace="b8267d95-1d67-4068-84fc-ad817dd2c5b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6e6e4-ee28-4ac2-a173-263d50dbf66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f66db31a-400d-4802-9ceb-8b097de24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267d95-1d67-4068-84fc-ad817dd2c5b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d6c3ff6-f4bb-4cca-9788-fa2ee5331689}" ma:internalName="TaxCatchAll" ma:showField="CatchAllData" ma:web="b8267d95-1d67-4068-84fc-ad817dd2c5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EC976-1D71-4AF7-B485-0558D25C27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AE4388-0D3C-4559-9F1A-0250DA6B3A36}">
  <ds:schemaRefs>
    <ds:schemaRef ds:uri="http://schemas.microsoft.com/office/2006/metadata/properties"/>
    <ds:schemaRef ds:uri="http://purl.org/dc/terms/"/>
    <ds:schemaRef ds:uri="9466e6e4-ee28-4ac2-a173-263d50dbf66d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8267d95-1d67-4068-84fc-ad817dd2c5b5"/>
  </ds:schemaRefs>
</ds:datastoreItem>
</file>

<file path=customXml/itemProps3.xml><?xml version="1.0" encoding="utf-8"?>
<ds:datastoreItem xmlns:ds="http://schemas.openxmlformats.org/officeDocument/2006/customXml" ds:itemID="{22859CFA-6786-4ECC-9BD3-58FF0EB048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66e6e4-ee28-4ac2-a173-263d50dbf66d"/>
    <ds:schemaRef ds:uri="b8267d95-1d67-4068-84fc-ad817dd2c5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9935</TotalTime>
  <Words>882</Words>
  <Application>Microsoft Office PowerPoint</Application>
  <PresentationFormat>Widescreen</PresentationFormat>
  <Paragraphs>101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Inter</vt:lpstr>
      <vt:lpstr>Roboto</vt:lpstr>
      <vt:lpstr>Roboto Light</vt:lpstr>
      <vt:lpstr>Office Theme</vt:lpstr>
      <vt:lpstr>Libraries exploration through a basic multiplatform chatbot app</vt:lpstr>
      <vt:lpstr>Agenda</vt:lpstr>
      <vt:lpstr>The Goal</vt:lpstr>
      <vt:lpstr>Multiplatform frontend framework</vt:lpstr>
      <vt:lpstr>Multiplatform frontend framework</vt:lpstr>
      <vt:lpstr>Multiplatform frontend framework</vt:lpstr>
      <vt:lpstr>Python REST API backend for a chatbot </vt:lpstr>
      <vt:lpstr>The AI tools I used to build the app </vt:lpstr>
      <vt:lpstr>App Demo</vt:lpstr>
      <vt:lpstr>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GPS Reader Modernization - Discovery</dc:title>
  <dc:creator>Marc-Olivier Poulin</dc:creator>
  <cp:lastModifiedBy>William Laferté</cp:lastModifiedBy>
  <cp:revision>10</cp:revision>
  <dcterms:created xsi:type="dcterms:W3CDTF">2023-10-18T15:14:32Z</dcterms:created>
  <dcterms:modified xsi:type="dcterms:W3CDTF">2026-02-24T20:12:06Z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0x010100A73EB2AADE47364B857A9EAB24E0C71C</vt:lpwstr>
  </property>
</Properties>
</file>